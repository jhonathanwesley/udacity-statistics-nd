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87000" cx="18288000"/>
  <p:notesSz cx="6858000" cy="9144000"/>
  <p:embeddedFontLst>
    <p:embeddedFont>
      <p:font typeface="Roboto Mono Light"/>
      <p:regular r:id="rId20"/>
      <p:bold r:id="rId21"/>
      <p:italic r:id="rId22"/>
      <p:boldItalic r:id="rId23"/>
    </p:embeddedFont>
    <p:embeddedFont>
      <p:font typeface="Open Sans Light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5190F1-66B9-4BCA-BBC9-C93BD36A8C76}">
  <a:tblStyle styleId="{8D5190F1-66B9-4BCA-BBC9-C93BD36A8C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E3FA2CE-8FE4-4662-8D70-E649B124135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Light-regular.fntdata"/><Relationship Id="rId22" Type="http://schemas.openxmlformats.org/officeDocument/2006/relationships/font" Target="fonts/RobotoMonoLight-italic.fntdata"/><Relationship Id="rId21" Type="http://schemas.openxmlformats.org/officeDocument/2006/relationships/font" Target="fonts/RobotoMonoLight-bold.fntdata"/><Relationship Id="rId24" Type="http://schemas.openxmlformats.org/officeDocument/2006/relationships/font" Target="fonts/OpenSansLight-regular.fntdata"/><Relationship Id="rId23" Type="http://schemas.openxmlformats.org/officeDocument/2006/relationships/font" Target="fonts/RobotoMono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Light-italic.fntdata"/><Relationship Id="rId25" Type="http://schemas.openxmlformats.org/officeDocument/2006/relationships/font" Target="fonts/OpenSansLight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Ligh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018bbb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018bbb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9018bbb9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9018bbb9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018bbb9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9018bbb9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9018bbb9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9018bbb9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9018bbb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9018bbb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9018bbb9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9018bbb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9018bbb9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9018bbb9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9018bbb9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9018bbb9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/>
              <a:t>Patterns in the better sleep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Jhonathan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  <p:sp>
        <p:nvSpPr>
          <p:cNvPr id="108" name="Google Shape;108;p13"/>
          <p:cNvSpPr/>
          <p:nvPr/>
        </p:nvSpPr>
        <p:spPr>
          <a:xfrm>
            <a:off x="191025" y="9493525"/>
            <a:ext cx="1645800" cy="705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91025" y="328825"/>
            <a:ext cx="5128800" cy="2096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7729950" y="0"/>
            <a:ext cx="10558200" cy="10287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3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6000"/>
              <a:t>Results on Sleep Health and Lifestyle Research</a:t>
            </a:r>
            <a:endParaRPr sz="6000"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29" l="0" r="0" t="39"/>
          <a:stretch/>
        </p:blipFill>
        <p:spPr>
          <a:xfrm>
            <a:off x="12285625" y="146950"/>
            <a:ext cx="5429225" cy="7656475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sleep health and lifestyle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Typical Amount of Physical Activity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Number of Daily Steps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Distribution of Heart Rates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‘Age’ is an example of a continuous variable in the dataset.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‘Daily Steps’ is an example of an integer variable in the dataset.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‘BMI Category’ is an example of an ordinal categorical variable in the dataset.</a:t>
            </a:r>
            <a:endParaRPr>
              <a:solidFill>
                <a:srgbClr val="2D3D4A"/>
              </a:solidFill>
            </a:endParaRPr>
          </a:p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4A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‘Sleep Disorder’ is an example of a nominal categorical variable in the dataset.</a:t>
            </a:r>
            <a:endParaRPr>
              <a:solidFill>
                <a:srgbClr val="2D3D4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Typical Amount (Minutes) of Physical Activity</a:t>
            </a:r>
            <a:endParaRPr sz="6400"/>
          </a:p>
        </p:txBody>
      </p:sp>
      <p:graphicFrame>
        <p:nvGraphicFramePr>
          <p:cNvPr id="130" name="Google Shape;130;p16"/>
          <p:cNvGraphicFramePr/>
          <p:nvPr/>
        </p:nvGraphicFramePr>
        <p:xfrm>
          <a:off x="2135513" y="407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{8D5190F1-66B9-4BCA-BBC9-C93BD36A8C76}</a:tableStyleId>
              </a:tblPr>
              <a:tblGrid>
                <a:gridCol w="4672325"/>
                <a:gridCol w="4672325"/>
                <a:gridCol w="4672325"/>
              </a:tblGrid>
              <a:tr h="1165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 u="sng">
                          <a:solidFill>
                            <a:schemeClr val="lt1"/>
                          </a:solidFill>
                        </a:rPr>
                        <a:t>MEAN</a:t>
                      </a:r>
                      <a:endParaRPr b="1" sz="24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 u="sng">
                          <a:solidFill>
                            <a:schemeClr val="lt1"/>
                          </a:solidFill>
                        </a:rPr>
                        <a:t>MEDIAN</a:t>
                      </a:r>
                      <a:endParaRPr b="1" sz="24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 u="sng">
                          <a:solidFill>
                            <a:schemeClr val="lt1"/>
                          </a:solidFill>
                        </a:rPr>
                        <a:t>MODE</a:t>
                      </a:r>
                      <a:endParaRPr b="1" sz="2400" u="sng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97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59.17112299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60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60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Analysis of Daily Steps Taken</a:t>
            </a:r>
            <a:endParaRPr sz="6400"/>
          </a:p>
        </p:txBody>
      </p:sp>
      <p:graphicFrame>
        <p:nvGraphicFramePr>
          <p:cNvPr id="136" name="Google Shape;136;p17"/>
          <p:cNvGraphicFramePr/>
          <p:nvPr/>
        </p:nvGraphicFramePr>
        <p:xfrm>
          <a:off x="3393400" y="175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{1E3FA2CE-8FE4-4662-8D70-E649B1241357}</a:tableStyleId>
              </a:tblPr>
              <a:tblGrid>
                <a:gridCol w="3953575"/>
                <a:gridCol w="4423575"/>
                <a:gridCol w="3124150"/>
              </a:tblGrid>
              <a:tr h="5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Mean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Median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Mode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6,816.84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7,000.00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MAX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MIN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RANGE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10,000.00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3,000.00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7,000.00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2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Sum of Squares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Variance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Standard Deviation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976,383,877.01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2,610,652.08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1,615.75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Q1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Q2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FFFFFF"/>
                          </a:solidFill>
                        </a:rPr>
                        <a:t>Q3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519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5,600.00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7,000.00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8,000.00</a:t>
                      </a:r>
                      <a:endParaRPr b="1" sz="1800"/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71"/>
            <a:ext cx="16916400" cy="9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Distribution of Heart Rates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314450"/>
            <a:ext cx="16916400" cy="73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of the Heart Rate Distribution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/>
              <a:t>Heart Rate Mean: </a:t>
            </a:r>
            <a:endParaRPr/>
          </a:p>
        </p:txBody>
      </p:sp>
      <p:pic>
        <p:nvPicPr>
          <p:cNvPr id="143" name="Google Shape;143;p1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75" y="1828800"/>
            <a:ext cx="9316500" cy="57591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88825" y="1828803"/>
            <a:ext cx="7113300" cy="5759100"/>
          </a:xfrm>
          <a:prstGeom prst="snip2DiagRect">
            <a:avLst>
              <a:gd fmla="val 10021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685800" y="1828800"/>
            <a:ext cx="16393800" cy="6629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Char char="●"/>
            </a:pPr>
            <a:r>
              <a:rPr lang="en" sz="2400">
                <a:latin typeface="Open Sans Light"/>
                <a:ea typeface="Open Sans Light"/>
                <a:cs typeface="Open Sans Light"/>
                <a:sym typeface="Open Sans Light"/>
              </a:rPr>
              <a:t>Woman, sleep better than man, in average.</a:t>
            </a:r>
            <a:endParaRPr sz="2400"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50" name="Google Shape;150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between Man and Woman sleep</a:t>
            </a:r>
            <a:endParaRPr/>
          </a:p>
        </p:txBody>
      </p:sp>
      <p:pic>
        <p:nvPicPr>
          <p:cNvPr id="151" name="Google Shape;151;p1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0450" y="2553975"/>
            <a:ext cx="9507101" cy="59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older, the better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solidFill>
                  <a:srgbClr val="2D3D4A"/>
                </a:solidFill>
              </a:rPr>
              <a:t>We can see some positive correlation between age and sleep quality</a:t>
            </a:r>
            <a:endParaRPr/>
          </a:p>
        </p:txBody>
      </p:sp>
      <p:pic>
        <p:nvPicPr>
          <p:cNvPr id="158" name="Google Shape;158;p20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613" y="2410102"/>
            <a:ext cx="9738774" cy="604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 more, Sleep better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latin typeface="Open Sans Light"/>
                <a:ea typeface="Open Sans Light"/>
                <a:cs typeface="Open Sans Light"/>
                <a:sym typeface="Open Sans Light"/>
              </a:rPr>
              <a:t>The obvious must be said?</a:t>
            </a:r>
            <a:endParaRPr/>
          </a:p>
        </p:txBody>
      </p:sp>
      <p:pic>
        <p:nvPicPr>
          <p:cNvPr id="165" name="Google Shape;165;p21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325" y="2368748"/>
            <a:ext cx="9805348" cy="60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of sleep quality by occupation</a:t>
            </a:r>
            <a:endParaRPr/>
          </a:p>
        </p:txBody>
      </p:sp>
      <p:pic>
        <p:nvPicPr>
          <p:cNvPr id="171" name="Google Shape;171;p22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2876" y="1932063"/>
            <a:ext cx="10342249" cy="642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who exercise tend to sleep better</a:t>
            </a:r>
            <a:endParaRPr/>
          </a:p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-6096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2D3D4A"/>
                </a:solidFill>
                <a:latin typeface="Arial"/>
                <a:ea typeface="Arial"/>
                <a:cs typeface="Arial"/>
                <a:sym typeface="Arial"/>
              </a:rPr>
              <a:t>We can a very weak positive correlation between physical </a:t>
            </a:r>
            <a:r>
              <a:rPr lang="en" sz="2400">
                <a:solidFill>
                  <a:srgbClr val="2D3D4A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r>
              <a:rPr lang="en" sz="2400">
                <a:solidFill>
                  <a:srgbClr val="2D3D4A"/>
                </a:solidFill>
                <a:latin typeface="Arial"/>
                <a:ea typeface="Arial"/>
                <a:cs typeface="Arial"/>
                <a:sym typeface="Arial"/>
              </a:rPr>
              <a:t> level and sleep quality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3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488" y="2274800"/>
            <a:ext cx="10053026" cy="62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Calm down to get your rest</a:t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6858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">
                <a:latin typeface="Open Sans Light"/>
                <a:ea typeface="Open Sans Light"/>
                <a:cs typeface="Open Sans Light"/>
                <a:sym typeface="Open Sans Light"/>
              </a:rPr>
              <a:t>Stress tend to make your sleep quality worse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4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363" y="2383698"/>
            <a:ext cx="9781277" cy="607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Sleep Quality by BMI</a:t>
            </a:r>
            <a:endParaRPr/>
          </a:p>
        </p:txBody>
      </p:sp>
      <p:pic>
        <p:nvPicPr>
          <p:cNvPr id="191" name="Google Shape;191;p25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9250" y="2353775"/>
            <a:ext cx="9829492" cy="61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